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Campus Vision — сервис, который по названию вуза собирает проверенный визуальный профиль кампуса: фото по категориям, источники и официальные соцсети.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Проблема: достоверные фото кампуса разбросаны, их принадлежность нельзя быстро проверить, у них нет понятного источника.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Пайплайн: Wikidata → поиск фото → дедупликация по perceptual hash → проверка Gemini Vision → профиль.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Скриншот — реальная главная страница на проде.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Реальные данные из ответа сервиса для Nazarbayev University: найдено 8 соцсетей.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Пороги из кода: скрываем confidence &lt; 0.35, желтый бейдж 0.35–0.6.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Ключи API не нужны для Commons/Openverse; нужен только GEMINI_API_KEY.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Цифры взяты из живого ответа сервиса на прод-сайте для Nazarbayev University: 28 фото после проверки, 8 соцсетей, поиск 17–23 секунды.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uni-visual-profile.vercel.app" TargetMode="External"/><Relationship Id="rId2" Type="http://schemas.openxmlformats.org/officeDocument/2006/relationships/hyperlink" Target="https://github.com/forethercoder-lgtm/uni-visual-profil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97280"/>
            <a:ext cx="914400" cy="914400"/>
          </a:xfrm>
          <a:prstGeom prst="ellipse">
            <a:avLst/>
          </a:prstGeom>
          <a:solidFill>
            <a:srgbClr val="163529"/>
          </a:solidFill>
          <a:ln w="19050">
            <a:solidFill>
              <a:srgbClr val="A983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097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7F2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Vision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118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0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Проверенный визуальный профиль университета за секунды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 Startup Hackathon 2026  ·  Кейс 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503920" y="914400"/>
            <a:ext cx="2743200" cy="1325880"/>
          </a:xfrm>
          <a:prstGeom prst="roundRect">
            <a:avLst>
              <a:gd name="adj" fmla="val 8276"/>
            </a:avLst>
          </a:prstGeom>
          <a:solidFill>
            <a:srgbClr val="2C6151"/>
          </a:solidFill>
          <a:ln w="9525">
            <a:solidFill>
              <a:srgbClr val="A9834A"/>
            </a:solidFill>
            <a:prstDash val="solid"/>
          </a:ln>
          <a:effectLst>
            <a:outerShdw sx="100000" sy="100000" kx="0" ky="0" algn="bl" rotWithShape="0" blurRad="127000" dist="25400" dir="5400000">
              <a:srgbClr val="2A262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0" y="1051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Кампус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104120" y="184708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0F7B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104120" y="1847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Проверено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052560" y="2468880"/>
            <a:ext cx="2743200" cy="1325880"/>
          </a:xfrm>
          <a:prstGeom prst="roundRect">
            <a:avLst>
              <a:gd name="adj" fmla="val 8276"/>
            </a:avLst>
          </a:prstGeom>
          <a:solidFill>
            <a:srgbClr val="3A7562"/>
          </a:solidFill>
          <a:ln w="9525">
            <a:solidFill>
              <a:srgbClr val="A9834A"/>
            </a:solidFill>
            <a:prstDash val="solid"/>
          </a:ln>
          <a:effectLst>
            <a:outerShdw sx="100000" sy="100000" kx="0" ky="0" algn="bl" rotWithShape="0" blurRad="127000" dist="25400" dir="5400000">
              <a:srgbClr val="2A262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23544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652760" y="340156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0F7B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652760" y="3401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03920" y="4023360"/>
            <a:ext cx="2743200" cy="1325880"/>
          </a:xfrm>
          <a:prstGeom prst="roundRect">
            <a:avLst>
              <a:gd name="adj" fmla="val 8276"/>
            </a:avLst>
          </a:prstGeom>
          <a:solidFill>
            <a:srgbClr val="2C6151"/>
          </a:solidFill>
          <a:ln w="9525">
            <a:solidFill>
              <a:srgbClr val="A9834A"/>
            </a:solidFill>
            <a:prstDash val="solid"/>
          </a:ln>
          <a:effectLst>
            <a:outerShdw sx="100000" sy="100000" kx="0" ky="0" algn="bl" rotWithShape="0" blurRad="127000" dist="25400" dir="5400000">
              <a:srgbClr val="2A262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686800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Студенческая жизнь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104120" y="495604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0F7B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104120" y="4956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Проверено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9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Реклама есть, а правды о кампусе нет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DF7"/>
          </a:solidFill>
          <a:ln w="12700">
            <a:solidFill>
              <a:srgbClr val="E3DAC6"/>
            </a:solidFill>
            <a:prstDash val="solid"/>
          </a:ln>
          <a:effectLst>
            <a:outerShdw sx="100000" sy="100000" kx="0" ky="0" algn="bl" rotWithShape="0" blurRad="127000" dist="25400" dir="5400000">
              <a:srgbClr val="2A262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777240" cy="777240"/>
          </a:xfrm>
          <a:prstGeom prst="ellipse">
            <a:avLst/>
          </a:prstGeom>
          <a:solidFill>
            <a:srgbClr val="F0E3C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2004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Фото разбросаны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7947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Достоверные снимки кампуса лежат в десятках источников: архивы, сайты, соцсети.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DF7"/>
          </a:solidFill>
          <a:ln w="12700">
            <a:solidFill>
              <a:srgbClr val="E3DAC6"/>
            </a:solidFill>
            <a:prstDash val="solid"/>
          </a:ln>
          <a:effectLst>
            <a:outerShdw sx="100000" sy="100000" kx="0" ky="0" algn="bl" rotWithShape="0" blurRad="127000" dist="25400" dir="5400000">
              <a:srgbClr val="2A262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240280"/>
            <a:ext cx="777240" cy="777240"/>
          </a:xfrm>
          <a:prstGeom prst="ellipse">
            <a:avLst/>
          </a:prstGeom>
          <a:solidFill>
            <a:srgbClr val="F0E3C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2004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Нельзя проверить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7947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Абитуриент не знает, что на снимке действительно этот вуз, а не стоковая картинка.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DF7"/>
          </a:solidFill>
          <a:ln w="12700">
            <a:solidFill>
              <a:srgbClr val="E3DAC6"/>
            </a:solidFill>
            <a:prstDash val="solid"/>
          </a:ln>
          <a:effectLst>
            <a:outerShdw sx="100000" sy="100000" kx="0" ky="0" algn="bl" rotWithShape="0" blurRad="127000" dist="25400" dir="5400000">
              <a:srgbClr val="2A262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2240280"/>
            <a:ext cx="777240" cy="777240"/>
          </a:xfrm>
          <a:prstGeom prst="ellipse">
            <a:avLst/>
          </a:prstGeom>
          <a:solidFill>
            <a:srgbClr val="F0E3C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2004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Нет источника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7947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ссылки на первоисточник сложно понять, насколько фото свежее и честное.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760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Абитуриент видит рекламные страницы, но не может быстро убедиться, как вуз выглядит на самом деле.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Vision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9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названия до профиля — за один запрос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F7F2E7"/>
          </a:solidFill>
          <a:ln w="12700">
            <a:solidFill>
              <a:srgbClr val="E3DA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98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9718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Название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7472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Wikidata определяет вуз, город, страну и официальный сайт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32004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80360" y="210312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F7F2E7"/>
          </a:solidFill>
          <a:ln w="12700">
            <a:solidFill>
              <a:srgbClr val="E3DAC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089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98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29718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Поиск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347472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Wikimedia Commons, Openverse и сайт вуза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2004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120640" y="210312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F7F2E7"/>
          </a:solidFill>
          <a:ln w="12700">
            <a:solidFill>
              <a:srgbClr val="E3DAC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492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98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29718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Дедупликация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347472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hash убирает повторы и похожие кадры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32004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60920" y="210312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1F4A3D"/>
          </a:solidFill>
          <a:ln w="12700">
            <a:solidFill>
              <a:srgbClr val="1F4A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9718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2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AI-проверка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347472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 подтверждает вуз и выбирает категорию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2004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601200" y="210312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F7F2E7"/>
          </a:solidFill>
          <a:ln w="12700">
            <a:solidFill>
              <a:srgbClr val="E3DAC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2980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98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26" name="Text 24"/>
          <p:cNvSpPr txBox="1"/>
          <p:nvPr/>
        </p:nvSpPr>
        <p:spPr>
          <a:xfrm>
            <a:off x="9829800" y="29718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Профиль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829800" y="347472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Фото, описание, источники и соцсети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3949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Параллельно с фото мы читаем официальный сайт вуза: описание и ссылки на соцсети.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Vision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9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Сайт в стиле университета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0" cy="548640"/>
          </a:xfrm>
          <a:prstGeom prst="ellipse">
            <a:avLst/>
          </a:prstGeom>
          <a:solidFill>
            <a:srgbClr val="1F4A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Заставка и главная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031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Молочная тема, серифные заголовки, поиск по названию.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rgbClr val="1F4A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017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Краткое содержание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4290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каждым фото — что на нём и кнопка «Подробнее».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389120"/>
            <a:ext cx="548640" cy="548640"/>
          </a:xfrm>
          <a:prstGeom prst="ellipse">
            <a:avLst/>
          </a:prstGeom>
          <a:solidFill>
            <a:srgbClr val="1F4A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343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Профиль вуза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7548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Шапка с городом и ссылками, описание, категории и фильтры.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532120" y="1600200"/>
            <a:ext cx="6217920" cy="3954780"/>
          </a:xfrm>
          <a:prstGeom prst="roundRect">
            <a:avLst>
              <a:gd name="adj" fmla="val 1850"/>
            </a:avLst>
          </a:prstGeom>
          <a:solidFill>
            <a:srgbClr val="FFFDF7"/>
          </a:solidFill>
          <a:ln w="12700">
            <a:solidFill>
              <a:srgbClr val="E3DAC6"/>
            </a:solidFill>
            <a:prstDash val="solid"/>
          </a:ln>
          <a:effectLst>
            <a:outerShdw sx="100000" sy="100000" kx="0" ky="0" algn="bl" rotWithShape="0" blurRad="127000" dist="25400" dir="5400000">
              <a:srgbClr val="2A2620">
                <a:alpha val="12000"/>
              </a:srgbClr>
            </a:outerShdw>
          </a:effectLst>
        </p:spPr>
      </p:sp>
      <p:pic>
        <p:nvPicPr>
          <p:cNvPr id="17" name="Image 0" descr="C:\Users\Елнур\AppData\Local\Temp\claude\c--Users-------OneDrive-Desktop-uty\56780352-ccd4-4ad1-ad6d-f1b7f8dbe48c\scratchpad\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691640"/>
            <a:ext cx="6035040" cy="37719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532120" y="56921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uni-visual-profile.vercel.app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Vision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9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СОЦСЕТИ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Официальные соцсети вуза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Аккаунты находим на сайте самого вуза и в Wikidata. Instagram всегда стоит первым — там видна настоящая студенческая жизнь.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4754880" cy="2194560"/>
          </a:xfrm>
          <a:prstGeom prst="roundRect">
            <a:avLst>
              <a:gd name="adj" fmla="val 4167"/>
            </a:avLst>
          </a:prstGeom>
          <a:solidFill>
            <a:srgbClr val="F0E3C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320040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Честно об ограничении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не отдаёт посты и фото анонимным запросам, поэтому мы показываем ссылки на официальные аккаунты. Загрузка постов возможна только через API Meta с токеном.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16002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Найдено для Nazarbayev University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52160" y="2011680"/>
            <a:ext cx="5669280" cy="512064"/>
          </a:xfrm>
          <a:prstGeom prst="roundRect">
            <a:avLst>
              <a:gd name="adj" fmla="val 17857"/>
            </a:avLst>
          </a:prstGeom>
          <a:solidFill>
            <a:srgbClr val="1F4A3D"/>
          </a:solidFill>
          <a:ln w="12700">
            <a:solidFill>
              <a:srgbClr val="1F4A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89320" y="2084832"/>
            <a:ext cx="365760" cy="365760"/>
          </a:xfrm>
          <a:prstGeom prst="ellipse">
            <a:avLst/>
          </a:prstGeom>
          <a:solidFill>
            <a:srgbClr val="16352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89320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06654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0" y="206654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0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@nuedukz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52160" y="2615184"/>
            <a:ext cx="5669280" cy="512064"/>
          </a:xfrm>
          <a:prstGeom prst="roundRect">
            <a:avLst>
              <a:gd name="adj" fmla="val 17857"/>
            </a:avLst>
          </a:prstGeom>
          <a:solidFill>
            <a:srgbClr val="F7F2E7"/>
          </a:solidFill>
          <a:ln w="12700">
            <a:solidFill>
              <a:srgbClr val="E3DAC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2688336"/>
            <a:ext cx="365760" cy="365760"/>
          </a:xfrm>
          <a:prstGeom prst="ellipse">
            <a:avLst/>
          </a:prstGeom>
          <a:solidFill>
            <a:srgbClr val="F0E3C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89320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26700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267004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@nuedukz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52160" y="3218688"/>
            <a:ext cx="5669280" cy="512064"/>
          </a:xfrm>
          <a:prstGeom prst="roundRect">
            <a:avLst>
              <a:gd name="adj" fmla="val 17857"/>
            </a:avLst>
          </a:prstGeom>
          <a:solidFill>
            <a:srgbClr val="F7F2E7"/>
          </a:solidFill>
          <a:ln w="12700">
            <a:solidFill>
              <a:srgbClr val="E3DAC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3291840"/>
            <a:ext cx="365760" cy="365760"/>
          </a:xfrm>
          <a:prstGeom prst="ellipse">
            <a:avLst/>
          </a:prstGeom>
          <a:solidFill>
            <a:srgbClr val="F0E3C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8932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2735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778240" y="327355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NazarbayevUniversity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852160" y="3822192"/>
            <a:ext cx="5669280" cy="512064"/>
          </a:xfrm>
          <a:prstGeom prst="roundRect">
            <a:avLst>
              <a:gd name="adj" fmla="val 17857"/>
            </a:avLst>
          </a:prstGeom>
          <a:solidFill>
            <a:srgbClr val="F7F2E7"/>
          </a:solidFill>
          <a:ln w="12700">
            <a:solidFill>
              <a:srgbClr val="E3DAC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9320" y="3895344"/>
            <a:ext cx="365760" cy="365760"/>
          </a:xfrm>
          <a:prstGeom prst="ellipse">
            <a:avLst/>
          </a:prstGeom>
          <a:solidFill>
            <a:srgbClr val="F0E3C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89320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387705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778240" y="38770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nuedukz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52160" y="4425696"/>
            <a:ext cx="5669280" cy="512064"/>
          </a:xfrm>
          <a:prstGeom prst="roundRect">
            <a:avLst>
              <a:gd name="adj" fmla="val 17857"/>
            </a:avLst>
          </a:prstGeom>
          <a:solidFill>
            <a:srgbClr val="F7F2E7"/>
          </a:solidFill>
          <a:ln w="12700">
            <a:solidFill>
              <a:srgbClr val="E3DAC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89320" y="4498848"/>
            <a:ext cx="365760" cy="365760"/>
          </a:xfrm>
          <a:prstGeom prst="ellipse">
            <a:avLst/>
          </a:prstGeom>
          <a:solidFill>
            <a:srgbClr val="F0E3C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989320" y="4498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537960" y="448056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778240" y="448056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@nu_edu_kz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52160" y="5029200"/>
            <a:ext cx="5669280" cy="512064"/>
          </a:xfrm>
          <a:prstGeom prst="roundRect">
            <a:avLst>
              <a:gd name="adj" fmla="val 17857"/>
            </a:avLst>
          </a:prstGeom>
          <a:solidFill>
            <a:srgbClr val="F7F2E7"/>
          </a:solidFill>
          <a:ln w="12700">
            <a:solidFill>
              <a:srgbClr val="E3DAC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89320" y="5102352"/>
            <a:ext cx="365760" cy="365760"/>
          </a:xfrm>
          <a:prstGeom prst="ellipse">
            <a:avLst/>
          </a:prstGeom>
          <a:solidFill>
            <a:srgbClr val="F0E3C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989320" y="5102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537960" y="508406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ВКонтакте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778240" y="50840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nuedukz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852160" y="56692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X (Twitter), LinkedIn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Vision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9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ДОСТОВЕРНОСТЬ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Честная оценка вместо красивой картинки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DF7"/>
          </a:solidFill>
          <a:ln w="12700">
            <a:solidFill>
              <a:srgbClr val="E3DAC6"/>
            </a:solidFill>
            <a:prstDash val="solid"/>
          </a:ln>
          <a:effectLst>
            <a:outerShdw sx="100000" sy="100000" kx="0" ky="0" algn="bl" rotWithShape="0" blurRad="127000" dist="25400" dir="5400000">
              <a:srgbClr val="2A262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0F7B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240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70%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17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Подтверждено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56616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явные признаки: вывеска, узнаваемая архитектура, совпадение подписи.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8463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Показано как надёжное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9202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DF7"/>
          </a:solidFill>
          <a:ln w="12700">
            <a:solidFill>
              <a:srgbClr val="E3DAC6"/>
            </a:solidFill>
            <a:prstDash val="solid"/>
          </a:ln>
          <a:effectLst>
            <a:outerShdw sx="100000" sy="100000" kx="0" ky="0" algn="bl" rotWithShape="0" blurRad="127000" dist="25400" dir="5400000">
              <a:srgbClr val="2A262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224028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09160" y="2240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35–60%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017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Сомнительно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356616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Принадлежность вузу не удалось подтвердить уверенно.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48463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Показано с предупреждением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19202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DF7"/>
          </a:solidFill>
          <a:ln w="12700">
            <a:solidFill>
              <a:srgbClr val="E3DAC6"/>
            </a:solidFill>
            <a:prstDash val="solid"/>
          </a:ln>
          <a:effectLst>
            <a:outerShdw sx="100000" sy="100000" kx="0" ky="0" algn="bl" rotWithShape="0" blurRad="127000" dist="25400" dir="5400000">
              <a:srgbClr val="2A262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58200" y="224028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78716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58200" y="2240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35%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017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Нерелевантно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356616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Стоковое фото или похожее здание другого места.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48463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Скрыто из профиля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760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данных мало, сервис прямо об этом говорит, а не выдумывает описание или фото.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Vision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9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Открытые источники и один AI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7F2E7"/>
          </a:solidFill>
          <a:ln w="12700">
            <a:solidFill>
              <a:srgbClr val="E3DA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75688"/>
            <a:ext cx="548640" cy="548640"/>
          </a:xfrm>
          <a:prstGeom prst="ellipse">
            <a:avLst/>
          </a:prstGeom>
          <a:solidFill>
            <a:srgbClr val="1F4A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65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377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· React 19 · Tailwind CSS 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7F2E7"/>
          </a:solidFill>
          <a:ln w="12700">
            <a:solidFill>
              <a:srgbClr val="E3DA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075688"/>
            <a:ext cx="548640" cy="548640"/>
          </a:xfrm>
          <a:prstGeom prst="ellipse">
            <a:avLst/>
          </a:prstGeom>
          <a:solidFill>
            <a:srgbClr val="1F4A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1965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2377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Route Handlers, serverless на Vercel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7F2E7"/>
          </a:solidFill>
          <a:ln w="12700">
            <a:solidFill>
              <a:srgbClr val="E3DA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447288"/>
            <a:ext cx="548640" cy="548640"/>
          </a:xfrm>
          <a:prstGeom prst="ellipse">
            <a:avLst/>
          </a:prstGeom>
          <a:solidFill>
            <a:srgbClr val="1F4A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3337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Источники фото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Wikimedia Commons · Openverse · сайт вуза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315468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7F2E7"/>
          </a:solidFill>
          <a:ln w="12700">
            <a:solidFill>
              <a:srgbClr val="E3DA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447288"/>
            <a:ext cx="548640" cy="548640"/>
          </a:xfrm>
          <a:prstGeom prst="ellipse">
            <a:avLst/>
          </a:prstGeom>
          <a:solidFill>
            <a:srgbClr val="1F4A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3337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 о вузе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Wikidata · Wikipedia · официальные соцсети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452628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7F2E7"/>
          </a:solidFill>
          <a:ln w="12700">
            <a:solidFill>
              <a:srgbClr val="E3DAC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4818888"/>
            <a:ext cx="548640" cy="548640"/>
          </a:xfrm>
          <a:prstGeom prst="ellipse">
            <a:avLst/>
          </a:prstGeom>
          <a:solidFill>
            <a:srgbClr val="1F4A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4818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691640" y="4709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691640" y="5120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Vision + perceptual hash (sharp)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17920" y="452628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7F2E7"/>
          </a:solidFill>
          <a:ln w="12700">
            <a:solidFill>
              <a:srgbClr val="E3DAC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4818888"/>
            <a:ext cx="548640" cy="548640"/>
          </a:xfrm>
          <a:prstGeom prst="ellipse">
            <a:avLst/>
          </a:prstGeom>
          <a:solidFill>
            <a:srgbClr val="1F4A3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92240" y="4818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269480" y="4709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Кэш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7269480" y="5120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In-memory: повторный поиск возвращается почти мгновенно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63447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Vision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0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2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Работает уже сейчас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163529"/>
          </a:solidFill>
          <a:ln w="9525">
            <a:solidFill>
              <a:srgbClr val="A983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проверенных фото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201168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163529"/>
          </a:solidFill>
          <a:ln w="9525">
            <a:solidFill>
              <a:srgbClr val="A98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2148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соцсетей вуза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55280" y="201168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163529"/>
          </a:solidFill>
          <a:ln w="9525">
            <a:solidFill>
              <a:srgbClr val="A983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2148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 с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поиск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Nazarbayev University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4805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0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</a:t>
            </a:r>
            <a:endParaRPr lang="en-US" sz="1300" dirty="0"/>
          </a:p>
          <a:p>
            <a:pPr indent="0" marL="0">
              <a:buNone/>
            </a:pPr>
            <a:r>
              <a:rPr lang="en-US" sz="2200" b="1" u="sng" dirty="0">
                <a:solidFill>
                  <a:srgbClr val="F7F2E7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uni-visual-profile.vercel.app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</a:t>
            </a:r>
            <a:endParaRPr lang="en-US" sz="1300" dirty="0"/>
          </a:p>
          <a:p>
            <a:pPr indent="0" marL="0">
              <a:buNone/>
            </a:pPr>
            <a:r>
              <a:rPr lang="en-US" sz="2200" b="1" u="sng" dirty="0">
                <a:solidFill>
                  <a:srgbClr val="F7F2E7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github.com/forethercoder-lgtm/uni-visual-profile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Vision</dc:title>
  <dc:subject>PptxGenJS Presentation</dc:subject>
  <dc:creator>Campus Vision</dc:creator>
  <cp:lastModifiedBy>Campus Vision</cp:lastModifiedBy>
  <cp:revision>1</cp:revision>
  <dcterms:created xsi:type="dcterms:W3CDTF">2026-09-18T15:57:49Z</dcterms:created>
  <dcterms:modified xsi:type="dcterms:W3CDTF">2026-09-18T15:57:49Z</dcterms:modified>
</cp:coreProperties>
</file>