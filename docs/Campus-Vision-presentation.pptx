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Campus Vision — сервис, который по названию вуза собирает проверенный визуальный профиль кампуса: фото по категориям, источники и официальные соцсети.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достоверные фото кампуса разбросаны, их принадлежность нельзя быстро проверить, у них нет понятного источника.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Пайплайн: Wikidata → поиск фото → дедупликация по perceptual hash → проверка Gemini Vision → профиль.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— реальная главная страница на проде.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Реальные данные из ответа сервиса для Nazarbayev University: найдено 8 соцсетей.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Примеры взяты из реальных запросов к сервису. Работает для университетов и колледжей любой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факультетов взяты из реального ответа сервиса для Nazarbayev University.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из кода: скрываем confidence &lt; 0.35, желтый бейдж 0.35–0.6.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Ключи API не нужны для Commons/Openverse; нужен только GEMINI_API_KEY.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взяты из живого ответа сервиса на прод-сайте для Nazarbayev University: 28 фото после проверки, 8 соцсетей, поиск 17–23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uni-visual-profile.vercel.app" TargetMode="External"/><Relationship Id="rId2" Type="http://schemas.openxmlformats.org/officeDocument/2006/relationships/hyperlink" Target="https://github.com/forethercoder-lgtm/uni-visual-profil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97280"/>
            <a:ext cx="914400" cy="914400"/>
          </a:xfrm>
          <a:prstGeom prst="ellipse">
            <a:avLst/>
          </a:prstGeom>
          <a:solidFill>
            <a:srgbClr val="163529"/>
          </a:solidFill>
          <a:ln w="19050">
            <a:solidFill>
              <a:srgbClr val="A983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97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7F2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Campus Vision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118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Проверенный визуальный профиль университета за секунды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 Startup Hackathon 2026  ·  Кейс 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503920" y="91440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2C6151"/>
          </a:solidFill>
          <a:ln w="9525">
            <a:solidFill>
              <a:srgbClr val="A9834A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0" y="1051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Кампус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104120" y="184708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F7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104120" y="1847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52560" y="246888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3A7562"/>
          </a:solidFill>
          <a:ln w="9525">
            <a:solidFill>
              <a:srgbClr val="A9834A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3544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652760" y="340156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F7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52760" y="34015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03920" y="402336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2C6151"/>
          </a:solidFill>
          <a:ln w="9525">
            <a:solidFill>
              <a:srgbClr val="A9834A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68680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Студенческая жизнь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104120" y="495604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F7B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04120" y="4956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Реклама есть, а правды о кампусе нет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777240" cy="77724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004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 разбросаны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947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Достоверные снимки кампуса лежат в десятках источников: архивы, сайты, соцсети.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8912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2240280"/>
            <a:ext cx="777240" cy="77724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004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Нельзя проверить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7947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Абитуриент не знает, что на снимке действительно этот вуз, а не стоковая картинка.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240280"/>
            <a:ext cx="777240" cy="77724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2004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Нет источника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7947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ссылки на первоисточник сложно понять, насколько фото свежее и честное.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Абитуриент видит рекламные страницы, но не может быстро убедиться, как вуз выглядит на самом деле.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названия до профиля — за один запрос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65960" cy="2834640"/>
          </a:xfrm>
          <a:prstGeom prst="roundRect">
            <a:avLst>
              <a:gd name="adj" fmla="val 4651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98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718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Название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Wikidata определяет вуз, город, страну и официальный сайт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3200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80360" y="2103120"/>
            <a:ext cx="1965960" cy="2834640"/>
          </a:xfrm>
          <a:prstGeom prst="roundRect">
            <a:avLst>
              <a:gd name="adj" fmla="val 4651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98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29718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Поиск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347472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Commons, Openverse и сайт вуза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200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1965960" cy="2834640"/>
          </a:xfrm>
          <a:prstGeom prst="roundRect">
            <a:avLst>
              <a:gd name="adj" fmla="val 4651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492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98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9718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Дедупликация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347472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hash убирает повторы и похожие кадры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200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60920" y="2103120"/>
            <a:ext cx="1965960" cy="2834640"/>
          </a:xfrm>
          <a:prstGeom prst="roundRect">
            <a:avLst>
              <a:gd name="adj" fmla="val 4651"/>
            </a:avLst>
          </a:prstGeom>
          <a:solidFill>
            <a:srgbClr val="1F4A3D"/>
          </a:solidFill>
          <a:ln w="12700">
            <a:solidFill>
              <a:srgbClr val="1F4A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29718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2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AI-проверка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347472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подтверждает вуз и выбирает категорию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200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601200" y="2103120"/>
            <a:ext cx="1965960" cy="2834640"/>
          </a:xfrm>
          <a:prstGeom prst="roundRect">
            <a:avLst>
              <a:gd name="adj" fmla="val 4651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298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98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29718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Профиль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7472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Фото, описание, источники и соцсети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Параллельно с фото мы читаем официальный сайт вуза: описание и ссылки на соцсети.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Сайт в стиле университета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Заставка и главная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Молочная тема, серифные заголовки, поиск по названию.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Краткое содержание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429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каждым фото — что на нём и кнопка «Подробнее».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Профиль вуза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7548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Шапка с городом и ссылками, описание, категории и фильтры.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532120" y="1600200"/>
            <a:ext cx="6217920" cy="3954780"/>
          </a:xfrm>
          <a:prstGeom prst="roundRect">
            <a:avLst>
              <a:gd name="adj" fmla="val 1850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pic>
        <p:nvPicPr>
          <p:cNvPr id="17" name="Image 0" descr="C:\Users\Елнур\AppData\Local\Temp\claude\c--Users-------OneDrive-Desktop-uty\56780352-ccd4-4ad1-ad6d-f1b7f8dbe48c\scratchpad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91640"/>
            <a:ext cx="6035040" cy="37719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532120" y="56921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uni-visual-profile.vercel.app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СОЦСЕТИ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Официальные соцсети вуза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Аккаунты находим на сайте самого вуза и в Wikidata. Instagram всегда стоит первым — там видна настоящая студенческая жизнь.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4754880" cy="2194560"/>
          </a:xfrm>
          <a:prstGeom prst="roundRect">
            <a:avLst>
              <a:gd name="adj" fmla="val 4167"/>
            </a:avLst>
          </a:prstGeom>
          <a:solidFill>
            <a:srgbClr val="F0E3C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20040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Честно об ограничении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не отдаёт посты и фото анонимным запросам, поэтому мы показываем ссылки на официальные аккаунты. Загрузка постов возможна только через API Meta с токеном.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600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для Nazarbayev University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52160" y="2011680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1F4A3D"/>
          </a:solidFill>
          <a:ln w="12700">
            <a:solidFill>
              <a:srgbClr val="1F4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84832"/>
            <a:ext cx="365760" cy="365760"/>
          </a:xfrm>
          <a:prstGeom prst="ellipse">
            <a:avLst/>
          </a:prstGeom>
          <a:solidFill>
            <a:srgbClr val="16352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06654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06654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@nuedukz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2615184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688336"/>
            <a:ext cx="365760" cy="36576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8932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6700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26700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@nuedukz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52160" y="3218688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3291840"/>
            <a:ext cx="365760" cy="36576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8932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2735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327355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NazarbayevUniversity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52160" y="3822192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9320" y="3895344"/>
            <a:ext cx="365760" cy="36576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387705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38770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nuedukz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52160" y="4425696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9320" y="4498848"/>
            <a:ext cx="365760" cy="36576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89320" y="4498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4805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778240" y="448056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@nu_edu_kz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852160" y="5029200"/>
            <a:ext cx="5669280" cy="512064"/>
          </a:xfrm>
          <a:prstGeom prst="roundRect">
            <a:avLst>
              <a:gd name="adj" fmla="val 17857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89320" y="5102352"/>
            <a:ext cx="365760" cy="365760"/>
          </a:xfrm>
          <a:prstGeom prst="ellipse">
            <a:avLst/>
          </a:prstGeom>
          <a:solidFill>
            <a:srgbClr val="F0E3C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89320" y="5102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37960" y="508406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ВКонтакте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0840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nuedukz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6692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 (Twitter), LinkedIn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ВВОД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Понимает любой вуз мира, даже с ошибкой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1115568"/>
          </a:xfrm>
          <a:prstGeom prst="roundRect">
            <a:avLst>
              <a:gd name="adj" fmla="val 819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84248"/>
            <a:ext cx="530352" cy="530352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842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830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Wikidata на разных языках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148840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ищется параллельно на языках по письменности: латиница, кириллица, китайский, арабский, корейский и др.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5394960" cy="1115568"/>
          </a:xfrm>
          <a:prstGeom prst="roundRect">
            <a:avLst>
              <a:gd name="adj" fmla="val 819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82696"/>
            <a:ext cx="530352" cy="530352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2826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8152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ИИ исправляет название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447288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Опечатка, сокращение или транслит — Gemini находит заведение, а ответ проверяется по Wikidata.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88536"/>
            <a:ext cx="5394960" cy="1115568"/>
          </a:xfrm>
          <a:prstGeom prst="roundRect">
            <a:avLst>
              <a:gd name="adj" fmla="val 819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581144"/>
            <a:ext cx="530352" cy="530352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5811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37997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уверен — спрашивает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45736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вариантов несколько или заведение неизвестно, сервис задаёт вопрос и предлагает варианты.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1691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примеры из проверки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103120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EFE7D5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210312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nazarbaev univercity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10312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Nazarbayev University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92240" y="2706624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EFE7D5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70662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КазНУ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915400" y="270662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270662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Казахский национальный университет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92240" y="3310128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EFE7D5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33101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清华大学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331012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3101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Tsinghua (Пекин)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92240" y="3913632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EFE7D5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0" y="39136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Universität Heidelberg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915400" y="391363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9136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Heidelberg University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92240" y="4517136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EFE7D5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75120" y="45171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Eton College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45171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235440" y="451713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Итон, Великобритания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92240" y="5120640"/>
            <a:ext cx="5029200" cy="512064"/>
          </a:xfrm>
          <a:prstGeom prst="roundRect">
            <a:avLst>
              <a:gd name="adj" fmla="val 17857"/>
            </a:avLst>
          </a:prstGeom>
          <a:solidFill>
            <a:srgbClr val="F0E3C8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675120" y="51206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asdfgh college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915400" y="512064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235440" y="512064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Вопрос: уточните название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8064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Выдуманное ИИ название не пройдёт: каждый ответ перепроверяется по базе Wikidata.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ФАКУЛЬТЕТЫ И СТУДЕНЧЕСКАЯ ЖИЗНЬ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Популярность, загруженность и активности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Nazarbayev University: факультеты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6035040" cy="1051560"/>
          </a:xfrm>
          <a:prstGeom prst="roundRect">
            <a:avLst>
              <a:gd name="adj" fmla="val 8696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of Engineering and Digital Sciences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257800" y="213055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0E3C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57800" y="21305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ИИ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514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Популярность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2514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6504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2514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Загруженность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2514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94760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7" name="Shape 15"/>
          <p:cNvSpPr/>
          <p:nvPr/>
        </p:nvSpPr>
        <p:spPr>
          <a:xfrm>
            <a:off x="4672584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8" name="Shape 16"/>
          <p:cNvSpPr/>
          <p:nvPr/>
        </p:nvSpPr>
        <p:spPr>
          <a:xfrm>
            <a:off x="5550408" y="279806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3200400"/>
            <a:ext cx="6035040" cy="1051560"/>
          </a:xfrm>
          <a:prstGeom prst="roundRect">
            <a:avLst>
              <a:gd name="adj" fmla="val 8696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2918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of Sciences and Humanities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57800" y="331927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0E3C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5780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ИИ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703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Популярность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3703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68680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26" name="Shape 24"/>
          <p:cNvSpPr/>
          <p:nvPr/>
        </p:nvSpPr>
        <p:spPr>
          <a:xfrm>
            <a:off x="1746504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24328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794760" y="3703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Загруженность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3703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94760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31" name="Shape 29"/>
          <p:cNvSpPr/>
          <p:nvPr/>
        </p:nvSpPr>
        <p:spPr>
          <a:xfrm>
            <a:off x="4672584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32" name="Shape 30"/>
          <p:cNvSpPr/>
          <p:nvPr/>
        </p:nvSpPr>
        <p:spPr>
          <a:xfrm>
            <a:off x="5550408" y="398678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3DAC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" y="4389120"/>
            <a:ext cx="6035040" cy="1051560"/>
          </a:xfrm>
          <a:prstGeom prst="roundRect">
            <a:avLst>
              <a:gd name="adj" fmla="val 8696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44805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of Mining and Geosciences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257800" y="450799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0E3C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257800" y="45079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ИИ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4892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Популярность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2148840" y="48920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68680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40" name="Shape 38"/>
          <p:cNvSpPr/>
          <p:nvPr/>
        </p:nvSpPr>
        <p:spPr>
          <a:xfrm>
            <a:off x="1746504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41" name="Shape 39"/>
          <p:cNvSpPr/>
          <p:nvPr/>
        </p:nvSpPr>
        <p:spPr>
          <a:xfrm>
            <a:off x="2624328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3DAC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94760" y="4892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Загруженность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074920" y="48920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794760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2584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1F4A3D"/>
          </a:solidFill>
          <a:ln/>
        </p:spPr>
      </p:sp>
      <p:sp>
        <p:nvSpPr>
          <p:cNvPr id="46" name="Shape 44"/>
          <p:cNvSpPr/>
          <p:nvPr/>
        </p:nvSpPr>
        <p:spPr>
          <a:xfrm>
            <a:off x="5550408" y="5175504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3DAC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040880" y="16002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Активности для студентов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040880" y="2011680"/>
            <a:ext cx="4480560" cy="1051560"/>
          </a:xfrm>
          <a:prstGeom prst="roundRect">
            <a:avLst>
              <a:gd name="adj" fmla="val 8696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269480" y="2103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МЕРОПРИЯТИЕ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269480" y="23591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 Week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7269480" y="26883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Приветственная неделя для новых студентов.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040880" y="3200400"/>
            <a:ext cx="4480560" cy="1051560"/>
          </a:xfrm>
          <a:prstGeom prst="roundRect">
            <a:avLst>
              <a:gd name="adj" fmla="val 8696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26948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КЛУБ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269480" y="354787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Organizations &amp; Clubs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7269480" y="38770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Студенческие клубы и организации.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040880" y="4434840"/>
            <a:ext cx="4480560" cy="1097280"/>
          </a:xfrm>
          <a:prstGeom prst="roundRect">
            <a:avLst>
              <a:gd name="adj" fmla="val 8333"/>
            </a:avLst>
          </a:prstGeom>
          <a:solidFill>
            <a:srgbClr val="F0E3C8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269480" y="4526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Честно об оценках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Открытых данных о популярности и загруженности нет, поэтому это оценка ИИ, а не статистика. Факультеты и активности берутся из Wikipedia и сайта вуза.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58064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пункт помечен: «по источникам» или «оценка ИИ». Нет данных — так и написано.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ДОСТОВЕРНОСТЬ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Честная оценка вместо красивой картинки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0F7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240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70%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Подтверждено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6616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явные признаки: вывеска, узнаваемая архитектура, совпадение подписи.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846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Показано как надёжное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4028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240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35–60%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Сомнительно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356616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Принадлежность вузу не удалось подтвердить уверенно.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4846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Показано с предупреждением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E3DAC6"/>
            </a:solidFill>
            <a:prstDash val="solid"/>
          </a:ln>
          <a:effectLst>
            <a:outerShdw sx="100000" sy="100000" kx="0" ky="0" algn="bl" rotWithShape="0" blurRad="127000" dist="25400" dir="5400000">
              <a:srgbClr val="2A262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224028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7871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58200" y="2240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35%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Нерелевантно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56616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Стоковое фото или похожее здание другого места.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58200" y="4846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Скрыто из профиля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данных мало, сервис прямо об этом говорит, а не выдумывает описание или фото.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9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источники и один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756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Tailwind CSS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0756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Handlers, serverless на Vercel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1546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472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337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фото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749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 · Openverse · сайт вуза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31546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34472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337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о вузе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749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Wikidata · Wikipedia · официальные соцсети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188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818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4709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69164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Vision + perceptual hash (sharp)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217920" y="4526280"/>
            <a:ext cx="5303520" cy="1143000"/>
          </a:xfrm>
          <a:prstGeom prst="roundRect">
            <a:avLst>
              <a:gd name="adj" fmla="val 8000"/>
            </a:avLst>
          </a:prstGeom>
          <a:solidFill>
            <a:srgbClr val="F7F2E7"/>
          </a:solidFill>
          <a:ln w="12700">
            <a:solidFill>
              <a:srgbClr val="E3DA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0" y="4818888"/>
            <a:ext cx="548640" cy="548640"/>
          </a:xfrm>
          <a:prstGeom prst="ellipse">
            <a:avLst/>
          </a:prstGeom>
          <a:solidFill>
            <a:srgbClr val="1F4A3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0" y="4818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269480" y="4709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Кэш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26948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In-memory: повторный поиск возвращается почти мгновенно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Vision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2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Работает уже сейчас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163529"/>
          </a:solidFill>
          <a:ln w="9525">
            <a:solidFill>
              <a:srgbClr val="A983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проверенных фото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163529"/>
          </a:solidFill>
          <a:ln w="9525">
            <a:solidFill>
              <a:srgbClr val="A983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соцсетей вуза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0" y="201168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163529"/>
          </a:solidFill>
          <a:ln w="9525">
            <a:solidFill>
              <a:srgbClr val="A983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 с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7F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поиск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Nazarbayev University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80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300" dirty="0"/>
          </a:p>
          <a:p>
            <a:pPr indent="0" marL="0">
              <a:buNone/>
            </a:pPr>
            <a:r>
              <a:rPr lang="en-US" sz="2200" b="1" u="sng" dirty="0">
                <a:solidFill>
                  <a:srgbClr val="F7F2E7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uni-visual-profile.vercel.app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0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en-US" sz="1300" dirty="0"/>
          </a:p>
          <a:p>
            <a:pPr indent="0" marL="0">
              <a:buNone/>
            </a:pPr>
            <a:r>
              <a:rPr lang="en-US" sz="2200" b="1" u="sng" dirty="0">
                <a:solidFill>
                  <a:srgbClr val="F7F2E7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github.com/forethercoder-lgtm/uni-visual-profile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Vision</dc:title>
  <dc:subject>PptxGenJS Presentation</dc:subject>
  <dc:creator>Campus Vision</dc:creator>
  <cp:lastModifiedBy>Campus Vision</cp:lastModifiedBy>
  <cp:revision>1</cp:revision>
  <dcterms:created xsi:type="dcterms:W3CDTF">2026-09-18T16:50:42Z</dcterms:created>
  <dcterms:modified xsi:type="dcterms:W3CDTF">2026-09-18T16:50:42Z</dcterms:modified>
</cp:coreProperties>
</file>